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7" r:id="rId5"/>
    <p:sldId id="383" r:id="rId6"/>
    <p:sldId id="395" r:id="rId7"/>
    <p:sldId id="396" r:id="rId8"/>
    <p:sldId id="367" r:id="rId9"/>
    <p:sldId id="259" r:id="rId10"/>
    <p:sldId id="391" r:id="rId11"/>
    <p:sldId id="368" r:id="rId12"/>
    <p:sldId id="375" r:id="rId13"/>
    <p:sldId id="386" r:id="rId14"/>
    <p:sldId id="374" r:id="rId15"/>
    <p:sldId id="384" r:id="rId16"/>
    <p:sldId id="385" r:id="rId17"/>
    <p:sldId id="392" r:id="rId18"/>
    <p:sldId id="387" r:id="rId19"/>
    <p:sldId id="389" r:id="rId20"/>
    <p:sldId id="390" r:id="rId21"/>
    <p:sldId id="393" r:id="rId22"/>
    <p:sldId id="39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Cleres" initials="DC" lastIdx="1" clrIdx="0">
    <p:extLst>
      <p:ext uri="{19B8F6BF-5375-455C-9EA6-DF929625EA0E}">
        <p15:presenceInfo xmlns:p15="http://schemas.microsoft.com/office/powerpoint/2012/main" userId="S::david.cleres@epfl.ch::e72f29eb-0d75-482e-94fb-85b0d1878d8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799"/>
    <a:srgbClr val="D2E4F0"/>
    <a:srgbClr val="3A5653"/>
    <a:srgbClr val="365150"/>
    <a:srgbClr val="201E44"/>
    <a:srgbClr val="5D7683"/>
    <a:srgbClr val="F1AE2B"/>
    <a:srgbClr val="DBDBDB"/>
    <a:srgbClr val="DC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09-20T16:22:28.890"/>
    <p1510:client id="{902FCDEF-4F23-FB92-F981-D71E2085401F}" v="14" dt="2026-09-20T20:16:47.118"/>
    <p1510:client id="{F4346C8B-BE1A-D741-AD2E-F26E2A97A9AD}" v="98" dt="2026-09-20T16:18:07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9"/>
    <p:restoredTop sz="94693"/>
  </p:normalViewPr>
  <p:slideViewPr>
    <p:cSldViewPr snapToGrid="0">
      <p:cViewPr varScale="1">
        <p:scale>
          <a:sx n="166" d="100"/>
          <a:sy n="166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4DEB3C-60A0-C148-A4C4-1DED253E20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2973459" cy="660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9BA4C-9E81-BD49-9D35-35DE65733C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546" y="0"/>
            <a:ext cx="2973454" cy="660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67F1C-366C-E843-AB28-7B3C63BD44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6561D-5559-814C-8E23-F60F92DE7D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1248423"/>
            <a:ext cx="2973459" cy="660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72FAE-8D25-594F-A27C-D3A1ECE44A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546" y="1248423"/>
            <a:ext cx="2973454" cy="660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C2164-1B0F-8D4D-9C80-6F6FA65C3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70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22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87804-7303-3E40-AC83-F8FA69D107D9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" y="868521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22" y="868521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A568A-248A-2842-B036-CF6014FE7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7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H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6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E3F05-1CBA-E416-C801-D3F3A886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0F3C0-96AF-0E70-4853-84259AC5E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68CAE-280A-8517-46C0-2AFD7818D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C789-0B51-7693-BFC6-BC08B4C04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6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A923-63D1-C4F4-AE14-0F788D66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D0BCD-09BC-0CC6-986E-DE3795907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748A6-0C4D-FB38-ABC7-DF266E9F7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0D327-86C0-D7EE-540C-7A3315F9E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12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C851-0A1A-837C-83B8-C0AB4DF5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D1CF1-72EE-0413-2DB7-9D2346DC1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E3559-2C72-0E49-55F0-0402BBFC9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773A-06D0-792C-842E-0E5323081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78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Frage für die </a:t>
            </a:r>
            <a:r>
              <a:rPr lang="en-US" err="1"/>
              <a:t>Studierende</a:t>
            </a:r>
            <a:r>
              <a:rPr lang="en-US"/>
              <a:t>: Wissen </a:t>
            </a:r>
            <a:r>
              <a:rPr lang="en-US" err="1"/>
              <a:t>sie</a:t>
            </a:r>
            <a:r>
              <a:rPr lang="en-US"/>
              <a:t> was </a:t>
            </a:r>
            <a:r>
              <a:rPr lang="en-US" err="1"/>
              <a:t>Künstliche</a:t>
            </a:r>
            <a:r>
              <a:rPr lang="en-US"/>
              <a:t> </a:t>
            </a:r>
            <a:r>
              <a:rPr lang="en-US" err="1"/>
              <a:t>Intelligenz</a:t>
            </a:r>
            <a:r>
              <a:rPr lang="en-US"/>
              <a:t> </a:t>
            </a:r>
            <a:r>
              <a:rPr lang="en-US" err="1"/>
              <a:t>ist</a:t>
            </a:r>
            <a:r>
              <a:rPr lang="en-US"/>
              <a:t>?</a:t>
            </a:r>
          </a:p>
          <a:p>
            <a:r>
              <a:rPr lang="en-US"/>
              <a:t>In </a:t>
            </a:r>
            <a:r>
              <a:rPr lang="en-US" err="1"/>
              <a:t>welchen</a:t>
            </a:r>
            <a:r>
              <a:rPr lang="en-US"/>
              <a:t> </a:t>
            </a:r>
            <a:r>
              <a:rPr lang="en-US" err="1"/>
              <a:t>Kontext</a:t>
            </a:r>
            <a:r>
              <a:rPr lang="en-US"/>
              <a:t> / Application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sie</a:t>
            </a:r>
            <a:r>
              <a:rPr lang="en-US"/>
              <a:t> </a:t>
            </a:r>
            <a:r>
              <a:rPr lang="en-US" err="1"/>
              <a:t>schon</a:t>
            </a:r>
            <a:r>
              <a:rPr lang="en-US"/>
              <a:t> </a:t>
            </a:r>
            <a:r>
              <a:rPr lang="en-US" err="1"/>
              <a:t>davon</a:t>
            </a:r>
            <a:r>
              <a:rPr lang="en-US"/>
              <a:t> </a:t>
            </a:r>
            <a:r>
              <a:rPr lang="en-US" err="1"/>
              <a:t>gehört</a:t>
            </a:r>
            <a:r>
              <a:rPr lang="en-US"/>
              <a:t>?</a:t>
            </a:r>
          </a:p>
          <a:p>
            <a:r>
              <a:rPr lang="en-US"/>
              <a:t>Haben </a:t>
            </a:r>
            <a:r>
              <a:rPr lang="en-US" err="1"/>
              <a:t>sie</a:t>
            </a:r>
            <a:r>
              <a:rPr lang="en-US"/>
              <a:t> es </a:t>
            </a:r>
            <a:r>
              <a:rPr lang="en-US" err="1"/>
              <a:t>schon</a:t>
            </a:r>
            <a:r>
              <a:rPr lang="en-US"/>
              <a:t> </a:t>
            </a:r>
            <a:r>
              <a:rPr lang="en-US" err="1"/>
              <a:t>benutzt</a:t>
            </a:r>
            <a:r>
              <a:rPr lang="en-US"/>
              <a:t>? </a:t>
            </a:r>
            <a:r>
              <a:rPr lang="en-US" err="1"/>
              <a:t>Wofür</a:t>
            </a:r>
            <a:r>
              <a:rPr lang="en-US"/>
              <a:t>?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87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00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1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EF01-8DEC-761F-E2A9-332AB8B8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E9B55-5C89-3BCC-C414-F075FC343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519BD-DC66-1BA5-9C40-C9D6C4663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146A2-E72A-F262-C697-B92E0E730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23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Warum sehen wir gerade jetzt den </a:t>
            </a:r>
            <a:r>
              <a:rPr lang="de-DE" err="1"/>
              <a:t>grossen</a:t>
            </a:r>
            <a:r>
              <a:rPr lang="de-DE"/>
              <a:t> Durchbruch mit künstlicher Intelligenz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A568A-248A-2842-B036-CF6014FE7B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4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6E1F-185C-FD48-B670-5147B6C5C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20BAA-E293-CB42-ABDD-B299DDA68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0E692-362B-C149-9CDC-C3F5C2B7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AEB12-4C9C-9145-8994-5577B78E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806E-B856-7845-B6DC-25FC9051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C2B9-717C-8B41-91EF-438D71E2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8CBF1-E157-7A49-A590-CD763E2BB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2pPr>
            <a:lvl3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3pPr>
            <a:lvl4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4pPr>
            <a:lvl5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0E463-3DBE-CA4C-A79E-5532BFAA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19655-2496-874B-96B0-B7E9D367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C1B3-E2C9-FC43-BCF2-746895C4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3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05CB-BFE9-A442-A285-F29C95AE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6EC12-29D0-1947-88E8-D9A662D77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78044-14A9-914D-A2E9-002F2226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5C45A-CD47-3249-ABF0-ABE64E00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7D2C2-603E-6C40-B386-3777BDF8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4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2271-DB77-704B-B8C9-56A8F6EE9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DE39-1C43-FC4B-A2BA-3A018E299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2E35-7AEC-484C-A2CF-646728296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07496-C424-9D49-83ED-FBBA9900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5247F-9999-8647-9C86-67A19821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5FA9D-CC14-674E-A708-256D6EE5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1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48D6-721C-D644-8249-1A20877B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CEDB9-54F5-4944-AD63-B5F61455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FD813-BD8C-CE4A-A91E-A29E230AD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2pPr>
            <a:lvl3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3pPr>
            <a:lvl4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4pPr>
            <a:lvl5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546F6-B59E-F346-B326-7DE103A40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E15F0-0D57-C742-892B-71A47F2E4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2pPr>
            <a:lvl3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3pPr>
            <a:lvl4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4pPr>
            <a:lvl5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AECE06-0BAD-5440-A7ED-3C8C180E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E312C-DE3D-F745-ACFC-1A8F6563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A48B1-20FB-0542-B8B8-97BE8E51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5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08CD-D09F-9F4C-B2E2-508D0A2B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21DA9-635D-5641-978E-DA35571E9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09858-75D3-4049-89C5-9E323EBB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987AC-CAB2-7F4A-8C40-E44FF9D0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3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B0D43-2740-294A-90E1-64FECCD8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38866-4D48-CD4D-9555-63FA08A5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193CC-060F-2A48-A477-BF8A344F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7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CAC9-87DD-E141-8DFE-58AB1BD8F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F645E-74CC-9448-ADB8-73C7DB1E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>
              <a:defRPr sz="28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2pPr>
            <a:lvl3pPr>
              <a:defRPr sz="24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3pPr>
            <a:lvl4pPr>
              <a:defRPr sz="20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4pPr>
            <a:lvl5pPr>
              <a:defRPr sz="20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F7572-91FA-1C48-A41E-414FD75CA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8E171-80AE-1E49-B4DA-5896A923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6388B-822A-8543-80D7-B92CCC1E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D927A-6E68-954D-A25A-7927DD47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0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5311-0726-2146-B6FB-91CA2E3A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97E2F-C1F8-F345-8459-F8866B513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CFAEA-093B-F040-A3B8-EF3A4CFED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BFB82-5558-CC40-ACCD-23C7DAB3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19C5E-0506-1A41-8645-C0DF28CF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EBF77-5CB6-194D-A3AD-AA982EBC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8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D202-214F-804B-996F-406C160F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0FC54-7FA2-CF48-A354-B6EE8D8AA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B2DD0-4885-A541-86CF-231434EA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8F850-3890-3445-8C13-F20506AD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D6B70-22EB-7E46-8263-C2E150D5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7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0010C-6793-014D-8FA6-C7BDCF577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A0131-8F97-0A4F-80F8-102D5291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11DEA-C0ED-B547-8B2B-A210673A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2F799-496D-2E4E-ABF7-E5347268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C0F57-BDE0-5540-A635-D02B8D65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2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indoor, wall, computer&#10;&#10;Description automatically generated">
            <a:extLst>
              <a:ext uri="{FF2B5EF4-FFF2-40B4-BE49-F238E27FC236}">
                <a16:creationId xmlns:a16="http://schemas.microsoft.com/office/drawing/2014/main" id="{DED1045F-80F9-4E45-BB10-ED7908C1CA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82" y="0"/>
            <a:ext cx="12185318" cy="8124367"/>
          </a:xfrm>
          <a:prstGeom prst="rect">
            <a:avLst/>
          </a:prstGeom>
        </p:spPr>
      </p:pic>
      <p:sp>
        <p:nvSpPr>
          <p:cNvPr id="11" name="Google Shape;11;p2"/>
          <p:cNvSpPr/>
          <p:nvPr/>
        </p:nvSpPr>
        <p:spPr>
          <a:xfrm>
            <a:off x="772000" y="2560600"/>
            <a:ext cx="72400" cy="158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EB08DA-9C97-B848-B67B-AAA5B722F4E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" name="Google Shape;10;p2"/>
          <p:cNvSpPr/>
          <p:nvPr/>
        </p:nvSpPr>
        <p:spPr>
          <a:xfrm>
            <a:off x="6682" y="0"/>
            <a:ext cx="12296273" cy="7204979"/>
          </a:xfrm>
          <a:prstGeom prst="rect">
            <a:avLst/>
          </a:prstGeom>
          <a:solidFill>
            <a:srgbClr val="4E9799">
              <a:alpha val="38824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hasCustomPrompt="1"/>
          </p:nvPr>
        </p:nvSpPr>
        <p:spPr>
          <a:xfrm>
            <a:off x="772000" y="2700583"/>
            <a:ext cx="9402842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fr-CH"/>
              <a:t>Mobile App Design</a:t>
            </a:r>
            <a:br>
              <a:rPr lang="fr-CH"/>
            </a:br>
            <a:r>
              <a:rPr lang="fr-CH" sz="2400" err="1">
                <a:solidFill>
                  <a:srgbClr val="F1AE2B"/>
                </a:solidFill>
              </a:rPr>
              <a:t>Wie</a:t>
            </a:r>
            <a:r>
              <a:rPr lang="fr-CH" sz="2400">
                <a:solidFill>
                  <a:srgbClr val="F1AE2B"/>
                </a:solidFill>
              </a:rPr>
              <a:t> </a:t>
            </a:r>
            <a:r>
              <a:rPr lang="fr-CH" sz="2400" err="1">
                <a:solidFill>
                  <a:srgbClr val="F1AE2B"/>
                </a:solidFill>
              </a:rPr>
              <a:t>entstehen</a:t>
            </a:r>
            <a:r>
              <a:rPr lang="fr-CH" sz="2400">
                <a:solidFill>
                  <a:srgbClr val="F1AE2B"/>
                </a:solidFill>
              </a:rPr>
              <a:t> die Apps, die </a:t>
            </a:r>
            <a:r>
              <a:rPr lang="fr-CH" sz="2400" err="1">
                <a:solidFill>
                  <a:srgbClr val="F1AE2B"/>
                </a:solidFill>
              </a:rPr>
              <a:t>wir</a:t>
            </a:r>
            <a:r>
              <a:rPr lang="fr-CH" sz="2400">
                <a:solidFill>
                  <a:srgbClr val="F1AE2B"/>
                </a:solidFill>
              </a:rPr>
              <a:t> </a:t>
            </a:r>
            <a:r>
              <a:rPr lang="fr-CH" sz="2400" err="1">
                <a:solidFill>
                  <a:srgbClr val="F1AE2B"/>
                </a:solidFill>
              </a:rPr>
              <a:t>täglich</a:t>
            </a:r>
            <a:r>
              <a:rPr lang="fr-CH" sz="2400">
                <a:solidFill>
                  <a:srgbClr val="F1AE2B"/>
                </a:solidFill>
              </a:rPr>
              <a:t> </a:t>
            </a:r>
            <a:r>
              <a:rPr lang="fr-CH" sz="2400" err="1">
                <a:solidFill>
                  <a:srgbClr val="F1AE2B"/>
                </a:solidFill>
              </a:rPr>
              <a:t>nutzen</a:t>
            </a:r>
            <a:r>
              <a:rPr lang="fr-CH" sz="2400">
                <a:solidFill>
                  <a:srgbClr val="F1AE2B"/>
                </a:solidFill>
              </a:rPr>
              <a:t>? </a:t>
            </a:r>
            <a:r>
              <a:rPr lang="fr-CH"/>
              <a:t> </a:t>
            </a:r>
            <a:endParaRPr/>
          </a:p>
        </p:txBody>
      </p:sp>
      <p:sp>
        <p:nvSpPr>
          <p:cNvPr id="14" name="Shape 169">
            <a:extLst>
              <a:ext uri="{FF2B5EF4-FFF2-40B4-BE49-F238E27FC236}">
                <a16:creationId xmlns:a16="http://schemas.microsoft.com/office/drawing/2014/main" id="{F94D9889-9E59-B140-A09D-F5A0064AE6C7}"/>
              </a:ext>
            </a:extLst>
          </p:cNvPr>
          <p:cNvSpPr/>
          <p:nvPr userDrawn="1"/>
        </p:nvSpPr>
        <p:spPr>
          <a:xfrm>
            <a:off x="778792" y="4386966"/>
            <a:ext cx="6815807" cy="1609441"/>
          </a:xfrm>
          <a:prstGeom prst="rect">
            <a:avLst/>
          </a:prstGeom>
          <a:noFill/>
          <a:ln>
            <a:noFill/>
          </a:ln>
        </p:spPr>
        <p:txBody>
          <a:bodyPr lIns="121900" tIns="60933" rIns="121900" bIns="609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endParaRPr lang="en-US" sz="320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endParaRPr lang="en-US" sz="3200" u="none" strike="noStrike" cap="none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r>
              <a:rPr lang="en-US" sz="3200" u="none" strike="noStrike" cap="none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" charset="0"/>
                <a:sym typeface="Calibri"/>
              </a:rPr>
              <a:t>13. April 2022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endParaRPr lang="en-US" sz="320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" charset="0"/>
            </a:endParaRPr>
          </a:p>
          <a:p>
            <a:endParaRPr lang="en-US" sz="2400" b="1" u="none" strike="noStrike" cap="none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" charset="0"/>
              <a:sym typeface="Calibri"/>
            </a:endParaRPr>
          </a:p>
          <a:p>
            <a:endParaRPr sz="2667" b="1" u="none" strike="noStrike" cap="none">
              <a:solidFill>
                <a:schemeClr val="bg1"/>
              </a:solidFill>
              <a:latin typeface="Calibri" charset="0"/>
              <a:ea typeface="Calibri" charset="0"/>
              <a:cs typeface="Calibri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36C4B-074F-F84B-91A0-17AAA3289477}"/>
              </a:ext>
            </a:extLst>
          </p:cNvPr>
          <p:cNvSpPr txBox="1"/>
          <p:nvPr userDrawn="1"/>
        </p:nvSpPr>
        <p:spPr>
          <a:xfrm>
            <a:off x="8078216" y="5996407"/>
            <a:ext cx="3960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</a:pPr>
            <a:r>
              <a:rPr lang="en-US" sz="2400" u="none" strike="noStrike" cap="none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" charset="0"/>
                <a:sym typeface="Calibri"/>
              </a:rPr>
              <a:t>GirlsCodeToo | Zürich | 2022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4E3F661-6D49-294B-A61C-221DDF95A6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330398" y="65241"/>
            <a:ext cx="5861602" cy="239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79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125900" y="563333"/>
            <a:ext cx="4302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1125900" y="2112933"/>
            <a:ext cx="4356400" cy="4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152396" lvl="0" indent="0">
              <a:spcBef>
                <a:spcPts val="800"/>
              </a:spcBef>
              <a:spcAft>
                <a:spcPts val="0"/>
              </a:spcAft>
              <a:buSzPts val="1800"/>
              <a:buNone/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marL="761981" lvl="1" indent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>
            <a:endParaRPr lang="fr-CH"/>
          </a:p>
          <a:p>
            <a:pPr lvl="1"/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5744664" y="2112933"/>
            <a:ext cx="4356400" cy="4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▪"/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772000" y="772000"/>
            <a:ext cx="72400" cy="900800"/>
          </a:xfrm>
          <a:prstGeom prst="rect">
            <a:avLst/>
          </a:prstGeom>
          <a:solidFill>
            <a:srgbClr val="4E97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6"/>
          <p:cNvSpPr/>
          <p:nvPr/>
        </p:nvSpPr>
        <p:spPr>
          <a:xfrm>
            <a:off x="12051745" y="-88900"/>
            <a:ext cx="229155" cy="7048500"/>
          </a:xfrm>
          <a:prstGeom prst="rect">
            <a:avLst/>
          </a:prstGeom>
          <a:solidFill>
            <a:srgbClr val="4E97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b="0" i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341E4-DBD1-7242-8B2A-5708EDF99CED}"/>
              </a:ext>
            </a:extLst>
          </p:cNvPr>
          <p:cNvSpPr txBox="1"/>
          <p:nvPr userDrawn="1"/>
        </p:nvSpPr>
        <p:spPr>
          <a:xfrm>
            <a:off x="-12701" y="6657056"/>
            <a:ext cx="5428300" cy="230832"/>
          </a:xfrm>
          <a:prstGeom prst="rect">
            <a:avLst/>
          </a:prstGeom>
          <a:solidFill>
            <a:srgbClr val="4E9799"/>
          </a:solidFill>
        </p:spPr>
        <p:txBody>
          <a:bodyPr wrap="square" rtlCol="0">
            <a:spAutoFit/>
          </a:bodyPr>
          <a:lstStyle/>
          <a:p>
            <a:r>
              <a:rPr lang="en-US" sz="900" u="none" strike="noStrike" cap="none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" charset="0"/>
                <a:sym typeface="Calibri"/>
              </a:rPr>
              <a:t>GirlsCodeToo | Zürich | 2022</a:t>
            </a:r>
            <a:endParaRPr lang="en-US" sz="900" b="1" i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F7E90543-F43A-8444-A19E-C4C77092F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63702" y="-425806"/>
            <a:ext cx="5861602" cy="239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0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5AA9F-2037-904B-A7D2-4025F652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63AF6-6505-104D-9061-E0B4B34C1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5897E-A9E0-AA4D-B627-0CF22C936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C125-2532-3641-B876-7455AA778F2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9A611-48EC-E345-9B6E-FE7109E62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F73C8-FB9E-FC44-B6B6-A059FA6A5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DD01F-83B9-9C48-84ED-F265EC84A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9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 Thin" panose="020B0403020202020204" pitchFamily="34" charset="0"/>
          <a:ea typeface="Helvetica Neue Thin" panose="020B04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Neue Thin" panose="020B0403020202020204" pitchFamily="34" charset="0"/>
          <a:ea typeface="Helvetica Neue Thin" panose="020B04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Neue Thin" panose="020B0403020202020204" pitchFamily="34" charset="0"/>
          <a:ea typeface="Helvetica Neue Thin" panose="020B04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Neue Thin" panose="020B0403020202020204" pitchFamily="34" charset="0"/>
          <a:ea typeface="Helvetica Neue Thin" panose="020B04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Thin" panose="020B0403020202020204" pitchFamily="34" charset="0"/>
          <a:ea typeface="Helvetica Neue Thin" panose="020B04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Thin" panose="020B0403020202020204" pitchFamily="34" charset="0"/>
          <a:ea typeface="Helvetica Neue Thin" panose="020B04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3RsmRMqX2IY?feature=oembed" TargetMode="Externa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oLphBadhqWk?feature=oembe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ctrTitle"/>
          </p:nvPr>
        </p:nvSpPr>
        <p:spPr>
          <a:xfrm>
            <a:off x="892504" y="2543960"/>
            <a:ext cx="10996435" cy="15875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6600" dirty="0">
                <a:latin typeface="Helvetica Neue Thin"/>
                <a:cs typeface="Calibri Light"/>
              </a:rPr>
              <a:t>Informatik </a:t>
            </a:r>
            <a:r>
              <a:rPr lang="en-US" sz="6600" dirty="0" err="1">
                <a:latin typeface="Helvetica Neue Thin"/>
                <a:cs typeface="Calibri Light"/>
              </a:rPr>
              <a:t>Woche</a:t>
            </a:r>
            <a:br>
              <a:rPr lang="en-US" sz="6600" dirty="0">
                <a:latin typeface="Helvetica Neue Thin"/>
                <a:cs typeface="Calibri Light"/>
              </a:rPr>
            </a:br>
            <a:r>
              <a:rPr lang="en-US" sz="4000" dirty="0" err="1">
                <a:solidFill>
                  <a:srgbClr val="F1AE2B"/>
                </a:solidFill>
                <a:latin typeface="Helvetica Neue Thin"/>
                <a:cs typeface="Calibri Light"/>
              </a:rPr>
              <a:t>Kantonsschule</a:t>
            </a:r>
            <a:r>
              <a:rPr lang="en-US" sz="4000" dirty="0">
                <a:solidFill>
                  <a:srgbClr val="F1AE2B"/>
                </a:solidFill>
                <a:latin typeface="Helvetica Neue Thin"/>
                <a:cs typeface="Calibri Light"/>
              </a:rPr>
              <a:t> </a:t>
            </a:r>
            <a:r>
              <a:rPr lang="en-US" sz="4000" dirty="0" err="1">
                <a:solidFill>
                  <a:srgbClr val="F1AE2B"/>
                </a:solidFill>
                <a:latin typeface="Helvetica Neue Thin"/>
                <a:cs typeface="Calibri Light"/>
              </a:rPr>
              <a:t>Münchenstein</a:t>
            </a:r>
            <a:endParaRPr lang="en-US" sz="4000" dirty="0" err="1">
              <a:solidFill>
                <a:srgbClr val="F1AE2B"/>
              </a:solidFill>
              <a:cs typeface="Calibri Ligh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6D0D79-7E4C-6941-A5C7-DCAD935F0990}"/>
              </a:ext>
            </a:extLst>
          </p:cNvPr>
          <p:cNvSpPr/>
          <p:nvPr/>
        </p:nvSpPr>
        <p:spPr>
          <a:xfrm>
            <a:off x="892504" y="5441795"/>
            <a:ext cx="2519769" cy="535259"/>
          </a:xfrm>
          <a:prstGeom prst="roundRect">
            <a:avLst/>
          </a:prstGeom>
          <a:solidFill>
            <a:srgbClr val="365150"/>
          </a:solidFill>
          <a:ln>
            <a:solidFill>
              <a:srgbClr val="3A5653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Helvetica Neue Thin" panose="020B0403020202020204"/>
              </a:rPr>
              <a:t>21.09.2026</a:t>
            </a:r>
            <a:endParaRPr lang="en-CH" sz="2800" dirty="0">
              <a:latin typeface="Helvetica Neue Thin" panose="020B04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49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79ACD1-F444-A78D-C5E4-93CEE2FC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26C366-D100-1370-4CA9-BC098A9AC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Céline Ziegler</a:t>
            </a:r>
            <a:endParaRPr lang="en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FD2C182-6D71-AB65-A9B3-8FC83EF90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392" b="22760"/>
          <a:stretch>
            <a:fillRect/>
          </a:stretch>
        </p:blipFill>
        <p:spPr>
          <a:xfrm>
            <a:off x="6021312" y="1134933"/>
            <a:ext cx="2867081" cy="259171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5290C52-0689-5925-8438-7C1ECFD78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196" y="3521278"/>
            <a:ext cx="2214981" cy="295330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DA763C1-62BB-C404-2A5F-CBF8436D6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650" y="2206976"/>
            <a:ext cx="3006372" cy="4518247"/>
          </a:xfrm>
          <a:prstGeom prst="rect">
            <a:avLst/>
          </a:prstGeom>
        </p:spPr>
      </p:pic>
      <p:pic>
        <p:nvPicPr>
          <p:cNvPr id="4" name="Grafik 3" descr="Ein Bild, das Kleidung, Person, Menschliches Gesicht, Lächeln enthält.&#10;&#10;KI-generierte Inhalte können fehlerhaft sein.">
            <a:extLst>
              <a:ext uri="{FF2B5EF4-FFF2-40B4-BE49-F238E27FC236}">
                <a16:creationId xmlns:a16="http://schemas.microsoft.com/office/drawing/2014/main" id="{E4696F2D-D0CE-E1D7-7D11-F6EE9C25A1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510" t="18180" r="19851"/>
          <a:stretch>
            <a:fillRect/>
          </a:stretch>
        </p:blipFill>
        <p:spPr>
          <a:xfrm>
            <a:off x="837402" y="2027059"/>
            <a:ext cx="3006372" cy="426760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75239F8-C142-64D2-CD3B-7D1E48C59E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19" y="5649857"/>
            <a:ext cx="2214981" cy="82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1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0126-183F-67E7-3590-3C671BC9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55A876-EDA5-16F1-0D48-02D1848A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latin typeface="Helvetica Neue Thin"/>
              </a:rPr>
              <a:t>Andri Hunkeler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7FF65D-A052-EC9B-9601-39FF03B4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37" y="2634731"/>
            <a:ext cx="2741754" cy="3665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05C47-525D-6297-58D7-71EA01E4D5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265"/>
          <a:stretch>
            <a:fillRect/>
          </a:stretch>
        </p:blipFill>
        <p:spPr>
          <a:xfrm>
            <a:off x="4283658" y="1793654"/>
            <a:ext cx="4097317" cy="3037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532AD4-B1A8-B422-C619-D73C17CD22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88"/>
          <a:stretch>
            <a:fillRect/>
          </a:stretch>
        </p:blipFill>
        <p:spPr>
          <a:xfrm>
            <a:off x="8007752" y="4123180"/>
            <a:ext cx="3825448" cy="2527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DB53EF-AAFE-01B9-6824-7ABB953B161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8" b="313"/>
          <a:stretch>
            <a:fillRect/>
          </a:stretch>
        </p:blipFill>
        <p:spPr>
          <a:xfrm>
            <a:off x="5016357" y="4697694"/>
            <a:ext cx="3143087" cy="24493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1372BA-1A87-0C95-655D-55E138C2AA22}"/>
              </a:ext>
            </a:extLst>
          </p:cNvPr>
          <p:cNvSpPr/>
          <p:nvPr/>
        </p:nvSpPr>
        <p:spPr>
          <a:xfrm>
            <a:off x="4181058" y="6661742"/>
            <a:ext cx="1228530" cy="326571"/>
          </a:xfrm>
          <a:prstGeom prst="rect">
            <a:avLst/>
          </a:prstGeom>
          <a:solidFill>
            <a:srgbClr val="4E97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VIS – VSETH">
            <a:extLst>
              <a:ext uri="{FF2B5EF4-FFF2-40B4-BE49-F238E27FC236}">
                <a16:creationId xmlns:a16="http://schemas.microsoft.com/office/drawing/2014/main" id="{74453251-2336-D62D-4F1A-186AB51587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6603" y="2141046"/>
            <a:ext cx="2743200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3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A16E-A1FC-3C5B-6BAF-C41B2C72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2C472D-E8DE-21CA-FD76-B542A967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latin typeface="Helvetica Neue Thin"/>
              </a:rPr>
              <a:t>Livia Srindran</a:t>
            </a:r>
            <a:endParaRPr lang="de-CH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5256C9-D6DD-0327-1CC7-B3CDDC04C245}"/>
              </a:ext>
            </a:extLst>
          </p:cNvPr>
          <p:cNvSpPr/>
          <p:nvPr/>
        </p:nvSpPr>
        <p:spPr>
          <a:xfrm>
            <a:off x="4181058" y="6661742"/>
            <a:ext cx="1228530" cy="326571"/>
          </a:xfrm>
          <a:prstGeom prst="rect">
            <a:avLst/>
          </a:prstGeom>
          <a:solidFill>
            <a:srgbClr val="4E97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5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15EB-6991-D84C-8FC7-51EAB3E43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132" y="2569954"/>
            <a:ext cx="9402842" cy="1546400"/>
          </a:xfrm>
        </p:spPr>
        <p:txBody>
          <a:bodyPr>
            <a:normAutofit fontScale="90000"/>
          </a:bodyPr>
          <a:lstStyle/>
          <a:p>
            <a:r>
              <a:rPr lang="en-CH"/>
              <a:t>Was ist </a:t>
            </a:r>
            <a:r>
              <a:rPr lang="en-US" err="1"/>
              <a:t>Künstliche</a:t>
            </a:r>
            <a:r>
              <a:rPr lang="en-US"/>
              <a:t> </a:t>
            </a:r>
            <a:r>
              <a:rPr lang="en-US" err="1"/>
              <a:t>Intelligenz</a:t>
            </a:r>
            <a:r>
              <a:rPr lang="en-US"/>
              <a:t>?</a:t>
            </a:r>
            <a:r>
              <a:rPr lang="en-CH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99EE4B-D581-0DDE-4D86-1645E8409B90}"/>
              </a:ext>
            </a:extLst>
          </p:cNvPr>
          <p:cNvSpPr/>
          <p:nvPr/>
        </p:nvSpPr>
        <p:spPr>
          <a:xfrm>
            <a:off x="892504" y="5441795"/>
            <a:ext cx="2519769" cy="535259"/>
          </a:xfrm>
          <a:prstGeom prst="roundRect">
            <a:avLst/>
          </a:prstGeom>
          <a:solidFill>
            <a:srgbClr val="365150"/>
          </a:solidFill>
          <a:ln>
            <a:solidFill>
              <a:srgbClr val="3A5653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Helvetica Neue Thin" panose="020B0403020202020204"/>
              </a:rPr>
              <a:t>21.09.2026</a:t>
            </a:r>
            <a:endParaRPr lang="en-CH" sz="2800" dirty="0">
              <a:latin typeface="Helvetica Neue Thin" panose="020B04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6779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1125899" y="563333"/>
            <a:ext cx="6949321" cy="11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/>
              <a:t>Workshop </a:t>
            </a:r>
            <a:r>
              <a:rPr lang="en-US" err="1"/>
              <a:t>Künstliche</a:t>
            </a:r>
            <a:r>
              <a:rPr lang="en-US"/>
              <a:t> </a:t>
            </a:r>
            <a:r>
              <a:rPr lang="en-US" err="1"/>
              <a:t>Intelligenz</a:t>
            </a:r>
            <a:r>
              <a:rPr lang="en-US"/>
              <a:t> - </a:t>
            </a:r>
            <a:r>
              <a:rPr lang="en-US">
                <a:solidFill>
                  <a:srgbClr val="F1AE2B"/>
                </a:solidFill>
              </a:rPr>
              <a:t>Agenda</a:t>
            </a:r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2"/>
          </p:nvPr>
        </p:nvSpPr>
        <p:spPr>
          <a:xfrm>
            <a:off x="1125899" y="2195000"/>
            <a:ext cx="9020324" cy="366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endParaRPr lang="de-CH" sz="1800">
              <a:solidFill>
                <a:srgbClr val="000000"/>
              </a:solidFill>
            </a:endParaRPr>
          </a:p>
          <a:p>
            <a:pPr marL="34290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de-CH" sz="1800">
                <a:solidFill>
                  <a:srgbClr val="000000"/>
                </a:solidFill>
              </a:rPr>
              <a:t>Einführung zum Thema: Künstliche Intelligenz</a:t>
            </a:r>
          </a:p>
          <a:p>
            <a:pPr marL="34290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de-CH" sz="1800">
                <a:solidFill>
                  <a:srgbClr val="000000"/>
                </a:solidFill>
              </a:rPr>
              <a:t>Links für heute: https://github.com/girlscodetoo-ch/AI-Arts</a:t>
            </a:r>
          </a:p>
          <a:p>
            <a:pPr marL="342900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de-CH" sz="1800">
                <a:solidFill>
                  <a:srgbClr val="000000"/>
                </a:solidFill>
              </a:rPr>
              <a:t>Start des Workshops</a:t>
            </a:r>
          </a:p>
          <a:p>
            <a:pPr marL="304792" indent="-304792">
              <a:buClr>
                <a:schemeClr val="dk1"/>
              </a:buClr>
              <a:buSzPts val="1100"/>
              <a:buFont typeface="Arial"/>
              <a:buAutoNum type="arabicPeriod"/>
            </a:pPr>
            <a:endParaRPr lang="de-CH" sz="1600">
              <a:solidFill>
                <a:srgbClr val="000000"/>
              </a:solidFill>
            </a:endParaRPr>
          </a:p>
          <a:p>
            <a:pPr marL="304792" indent="-304792">
              <a:buClr>
                <a:schemeClr val="dk1"/>
              </a:buClr>
              <a:buSzPts val="1100"/>
              <a:buFont typeface="Arial"/>
              <a:buAutoNum type="arabicPeriod"/>
            </a:pPr>
            <a:endParaRPr lang="de-CH" sz="1600">
              <a:solidFill>
                <a:srgbClr val="000000"/>
              </a:solidFill>
            </a:endParaRPr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197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621A-6202-A847-1E8D-74CA3697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99" y="563333"/>
            <a:ext cx="6477399" cy="1143200"/>
          </a:xfrm>
        </p:spPr>
        <p:txBody>
          <a:bodyPr>
            <a:normAutofit fontScale="90000"/>
          </a:bodyPr>
          <a:lstStyle/>
          <a:p>
            <a:r>
              <a:rPr lang="de-CH"/>
              <a:t>Die 4 Industriellen Revolutionen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C0080-F008-0514-9BE3-493445B7B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D9BB27-673E-3CFA-4B56-1CCA6A6AFC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99" b="3383"/>
          <a:stretch>
            <a:fillRect/>
          </a:stretch>
        </p:blipFill>
        <p:spPr>
          <a:xfrm>
            <a:off x="532433" y="1964866"/>
            <a:ext cx="10604619" cy="458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4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42CD-3DB1-3A49-873D-A39567AC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99" y="563333"/>
            <a:ext cx="5322401" cy="1143200"/>
          </a:xfrm>
        </p:spPr>
        <p:txBody>
          <a:bodyPr>
            <a:normAutofit fontScale="90000"/>
          </a:bodyPr>
          <a:lstStyle/>
          <a:p>
            <a:r>
              <a:rPr lang="en-CH"/>
              <a:t>Künstliche</a:t>
            </a:r>
            <a:br>
              <a:rPr lang="en-CH"/>
            </a:br>
            <a:r>
              <a:rPr lang="en-CH">
                <a:solidFill>
                  <a:srgbClr val="F1AE2B"/>
                </a:solidFill>
              </a:rPr>
              <a:t>Intelligenz -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87213-311C-C345-88DD-67CCA2075B64}"/>
              </a:ext>
            </a:extLst>
          </p:cNvPr>
          <p:cNvSpPr txBox="1"/>
          <p:nvPr/>
        </p:nvSpPr>
        <p:spPr>
          <a:xfrm>
            <a:off x="764089" y="2751025"/>
            <a:ext cx="11000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Theorie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und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Entwicklung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von </a:t>
            </a:r>
            <a:r>
              <a:rPr lang="en-GB" sz="2800" b="1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Computersystemen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, die in der Lage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sind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Aufgaben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auszuführen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, die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normalerweise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b="1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menschliche</a:t>
            </a:r>
            <a:r>
              <a:rPr lang="en-GB" sz="2800" b="1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b="1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Intelligenz</a:t>
            </a:r>
            <a:r>
              <a:rPr lang="en-GB" sz="2800" b="1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erfordern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endParaRPr lang="en-GB" sz="28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z. B.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visuelle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Wahrnehmung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Spracherkennung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Entscheidungsfindung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und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Übersetzung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zwischen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80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Sprachen</a:t>
            </a:r>
            <a:r>
              <a:rPr lang="en-GB" sz="280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  <a:endParaRPr lang="en-CH" sz="28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20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3ADF-09B9-874A-C60F-3552F084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8754-9DB7-5A51-595E-09007A76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99" y="563333"/>
            <a:ext cx="5322401" cy="1143200"/>
          </a:xfrm>
        </p:spPr>
        <p:txBody>
          <a:bodyPr>
            <a:normAutofit fontScale="90000"/>
          </a:bodyPr>
          <a:lstStyle/>
          <a:p>
            <a:r>
              <a:rPr lang="en-CH"/>
              <a:t>Künstliche</a:t>
            </a:r>
            <a:br>
              <a:rPr lang="en-CH"/>
            </a:br>
            <a:r>
              <a:rPr lang="en-CH">
                <a:solidFill>
                  <a:srgbClr val="F1AE2B"/>
                </a:solidFill>
              </a:rPr>
              <a:t>Intelligenz - Definition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06BEBA-471D-BEA1-0574-9E7A1944E3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80"/>
          <a:stretch/>
        </p:blipFill>
        <p:spPr bwMode="auto">
          <a:xfrm>
            <a:off x="693632" y="2163338"/>
            <a:ext cx="4911715" cy="386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C810185-C225-C681-5E86-894491880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45"/>
          <a:stretch/>
        </p:blipFill>
        <p:spPr bwMode="auto">
          <a:xfrm>
            <a:off x="5839521" y="2163338"/>
            <a:ext cx="5470632" cy="386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41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CC27E5-3F70-AC6B-9769-863436237E9B}"/>
              </a:ext>
            </a:extLst>
          </p:cNvPr>
          <p:cNvGrpSpPr/>
          <p:nvPr/>
        </p:nvGrpSpPr>
        <p:grpSpPr>
          <a:xfrm>
            <a:off x="1479016" y="1059972"/>
            <a:ext cx="9233967" cy="5181752"/>
            <a:chOff x="1479016" y="838124"/>
            <a:chExt cx="9233967" cy="51817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FF40EF-FC43-7D3D-D039-A6CAF32A7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016" y="838124"/>
              <a:ext cx="9233967" cy="518175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FB7FF9-CC6C-DE45-C549-509DA77F0CE2}"/>
                </a:ext>
              </a:extLst>
            </p:cNvPr>
            <p:cNvSpPr txBox="1"/>
            <p:nvPr/>
          </p:nvSpPr>
          <p:spPr>
            <a:xfrm>
              <a:off x="2090936" y="3904990"/>
              <a:ext cx="1666872" cy="707886"/>
            </a:xfrm>
            <a:prstGeom prst="rect">
              <a:avLst/>
            </a:prstGeom>
            <a:solidFill>
              <a:srgbClr val="D2E4F0"/>
            </a:solidFill>
          </p:spPr>
          <p:txBody>
            <a:bodyPr wrap="square" rtlCol="0">
              <a:spAutoFit/>
            </a:bodyPr>
            <a:lstStyle/>
            <a:p>
              <a:r>
                <a:rPr lang="de-CH" sz="4000" b="1"/>
                <a:t>Daten</a:t>
              </a:r>
              <a:endParaRPr lang="en-CH" sz="4000" b="1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3EF5D3-A980-219D-46A7-8D9AA5C9973D}"/>
                </a:ext>
              </a:extLst>
            </p:cNvPr>
            <p:cNvSpPr txBox="1"/>
            <p:nvPr/>
          </p:nvSpPr>
          <p:spPr>
            <a:xfrm>
              <a:off x="8368790" y="3904990"/>
              <a:ext cx="2085389" cy="707886"/>
            </a:xfrm>
            <a:prstGeom prst="rect">
              <a:avLst/>
            </a:prstGeom>
            <a:solidFill>
              <a:srgbClr val="D2E4F0"/>
            </a:solidFill>
          </p:spPr>
          <p:txBody>
            <a:bodyPr wrap="square" rtlCol="0">
              <a:spAutoFit/>
            </a:bodyPr>
            <a:lstStyle/>
            <a:p>
              <a:r>
                <a:rPr lang="de-CH" sz="4000" b="1"/>
                <a:t>Ergebnis</a:t>
              </a:r>
              <a:endParaRPr lang="en-CH" sz="4000" b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F6DAA0-735B-0498-BD46-0EFDFFC83502}"/>
                </a:ext>
              </a:extLst>
            </p:cNvPr>
            <p:cNvSpPr txBox="1"/>
            <p:nvPr/>
          </p:nvSpPr>
          <p:spPr>
            <a:xfrm rot="18885577">
              <a:off x="4967266" y="1435730"/>
              <a:ext cx="2196000" cy="2160000"/>
            </a:xfrm>
            <a:prstGeom prst="rect">
              <a:avLst/>
            </a:prstGeom>
            <a:solidFill>
              <a:srgbClr val="D2E4F0"/>
            </a:solidFill>
          </p:spPr>
          <p:txBody>
            <a:bodyPr wrap="square" rtlCol="0">
              <a:spAutoFit/>
            </a:bodyPr>
            <a:lstStyle/>
            <a:p>
              <a:endParaRPr lang="en-CH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282673-27A7-2991-287F-BCA3477781CF}"/>
                </a:ext>
              </a:extLst>
            </p:cNvPr>
            <p:cNvSpPr txBox="1"/>
            <p:nvPr/>
          </p:nvSpPr>
          <p:spPr>
            <a:xfrm>
              <a:off x="5132745" y="2131009"/>
              <a:ext cx="193073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4400" b="1"/>
                <a:t>Lernen</a:t>
              </a:r>
              <a:endParaRPr lang="en-CH" sz="4400" b="1"/>
            </a:p>
          </p:txBody>
        </p:sp>
      </p:grpSp>
    </p:spTree>
    <p:extLst>
      <p:ext uri="{BB962C8B-B14F-4D97-AF65-F5344CB8AC3E}">
        <p14:creationId xmlns:p14="http://schemas.microsoft.com/office/powerpoint/2010/main" val="229013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157D-F808-2EA2-6874-58E6874F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0B1EF-EF28-BFE3-9FE9-D5B68B1C7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FBAF4-EC12-B792-4D7E-7747135C495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5" name="Online Media 4" title="Künstliche Intelligenz in 5 Minuten erklärt">
            <a:hlinkClick r:id="" action="ppaction://media"/>
            <a:extLst>
              <a:ext uri="{FF2B5EF4-FFF2-40B4-BE49-F238E27FC236}">
                <a16:creationId xmlns:a16="http://schemas.microsoft.com/office/drawing/2014/main" id="{E8143DB2-40D0-F5E4-8641-9DB5BCB5B4F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91003" y="290581"/>
            <a:ext cx="11118139" cy="62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D47B-B51A-E701-DF6C-8D577C93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803" y="2820397"/>
            <a:ext cx="6351345" cy="1832626"/>
          </a:xfrm>
        </p:spPr>
        <p:txBody>
          <a:bodyPr>
            <a:normAutofit/>
          </a:bodyPr>
          <a:lstStyle/>
          <a:p>
            <a:r>
              <a:rPr lang="de-DE" sz="4400">
                <a:solidFill>
                  <a:srgbClr val="000000"/>
                </a:solidFill>
                <a:effectLst/>
                <a:latin typeface="Helvetica Neue Thin" panose="020B0403020202020204"/>
              </a:rPr>
              <a:t>Welche Beispiele für KI kennt ihr oder benutzt ihr?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16240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C216-627B-23CC-E6C6-B392A424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07" y="667688"/>
            <a:ext cx="5680014" cy="1143200"/>
          </a:xfrm>
        </p:spPr>
        <p:txBody>
          <a:bodyPr>
            <a:normAutofit fontScale="90000"/>
          </a:bodyPr>
          <a:lstStyle/>
          <a:p>
            <a:r>
              <a:rPr lang="de-CH"/>
              <a:t>Warum jetzt Künstliche Intelligenz?</a:t>
            </a:r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0B432-506F-4F57-2E23-4F661B99B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71" t="48776" r="49562" b="17328"/>
          <a:stretch>
            <a:fillRect/>
          </a:stretch>
        </p:blipFill>
        <p:spPr>
          <a:xfrm>
            <a:off x="5756238" y="2677749"/>
            <a:ext cx="2982503" cy="2213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B46606-209D-839A-35A8-848BF21E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48" b="66105"/>
          <a:stretch>
            <a:fillRect/>
          </a:stretch>
        </p:blipFill>
        <p:spPr>
          <a:xfrm rot="10800000">
            <a:off x="232999" y="2732142"/>
            <a:ext cx="5378513" cy="2213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7A95E-48BD-AD5A-B6D0-D97FA70A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00" t="48776" b="17328"/>
          <a:stretch>
            <a:fillRect/>
          </a:stretch>
        </p:blipFill>
        <p:spPr>
          <a:xfrm>
            <a:off x="9028192" y="2623353"/>
            <a:ext cx="2548328" cy="2322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893A0D-32A0-4342-F202-65EB0424937B}"/>
              </a:ext>
            </a:extLst>
          </p:cNvPr>
          <p:cNvSpPr txBox="1"/>
          <p:nvPr/>
        </p:nvSpPr>
        <p:spPr>
          <a:xfrm>
            <a:off x="558446" y="4803494"/>
            <a:ext cx="21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Algorithmen</a:t>
            </a:r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A5C1E-7750-220B-15FD-7699B6C36AA6}"/>
              </a:ext>
            </a:extLst>
          </p:cNvPr>
          <p:cNvSpPr txBox="1"/>
          <p:nvPr/>
        </p:nvSpPr>
        <p:spPr>
          <a:xfrm>
            <a:off x="3060327" y="4803494"/>
            <a:ext cx="227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Grosse Datenmengen</a:t>
            </a:r>
            <a:endParaRPr lang="en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AAC69-2EDC-6068-3C94-93ECF2DECE42}"/>
              </a:ext>
            </a:extLst>
          </p:cNvPr>
          <p:cNvSpPr txBox="1"/>
          <p:nvPr/>
        </p:nvSpPr>
        <p:spPr>
          <a:xfrm>
            <a:off x="6405099" y="4803494"/>
            <a:ext cx="21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Rechenleistung</a:t>
            </a:r>
            <a:endParaRPr lang="en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0E372F-0768-00BD-D0FA-94EC5A28C187}"/>
              </a:ext>
            </a:extLst>
          </p:cNvPr>
          <p:cNvSpPr txBox="1"/>
          <p:nvPr/>
        </p:nvSpPr>
        <p:spPr>
          <a:xfrm>
            <a:off x="9760883" y="4803494"/>
            <a:ext cx="210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Datenspeicher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42777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3E3E-86CE-695C-9B30-91908DAD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solidFill>
                  <a:srgbClr val="000000"/>
                </a:solidFill>
                <a:effectLst/>
                <a:latin typeface="Helvetica Neue Thin" panose="020B0403020202020204"/>
              </a:rPr>
              <a:t>Generative KI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FD300-20EC-D5F2-634F-CEE6EC32A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04C40-68C8-3187-80B3-A459198A447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5" name="Online Media 4" title="IT kurz erklärt: Wie lernt eine generative KI?">
            <a:hlinkClick r:id="" action="ppaction://media"/>
            <a:extLst>
              <a:ext uri="{FF2B5EF4-FFF2-40B4-BE49-F238E27FC236}">
                <a16:creationId xmlns:a16="http://schemas.microsoft.com/office/drawing/2014/main" id="{AFEF3B0C-B932-7BF7-CD8C-104A1BD62B9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14418" y="1474117"/>
            <a:ext cx="8733936" cy="49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7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0A2D0-1AA7-1515-C781-72AB195D45E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CBE75-9AB7-D71A-CE92-C17E743916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6" t="8215" r="6868" b="10041"/>
          <a:stretch>
            <a:fillRect/>
          </a:stretch>
        </p:blipFill>
        <p:spPr>
          <a:xfrm>
            <a:off x="2712445" y="1100209"/>
            <a:ext cx="8248668" cy="5222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26768-8731-2D9E-8643-C446E2C0EA19}"/>
              </a:ext>
            </a:extLst>
          </p:cNvPr>
          <p:cNvSpPr txBox="1"/>
          <p:nvPr/>
        </p:nvSpPr>
        <p:spPr>
          <a:xfrm>
            <a:off x="138896" y="2112933"/>
            <a:ext cx="1952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Das wurde von GenAI generiert</a:t>
            </a:r>
            <a:endParaRPr lang="en-CH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70C925-026C-5D93-723D-F0BA936719B6}"/>
              </a:ext>
            </a:extLst>
          </p:cNvPr>
          <p:cNvCxnSpPr/>
          <p:nvPr/>
        </p:nvCxnSpPr>
        <p:spPr>
          <a:xfrm>
            <a:off x="1805651" y="2453833"/>
            <a:ext cx="67133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97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D2C8-82FC-2D77-AA81-B82CCE73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900" y="563333"/>
            <a:ext cx="4841661" cy="1147107"/>
          </a:xfrm>
        </p:spPr>
        <p:txBody>
          <a:bodyPr>
            <a:normAutofit fontScale="90000"/>
          </a:bodyPr>
          <a:lstStyle/>
          <a:p>
            <a:r>
              <a:rPr lang="de-DE" sz="4400">
                <a:solidFill>
                  <a:srgbClr val="000000"/>
                </a:solidFill>
                <a:effectLst/>
                <a:latin typeface="Helvetica Neue Thin" panose="020B0403020202020204"/>
              </a:rPr>
              <a:t>Gen AI vs AI Beispiele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96E7A-2BFF-37C2-3CC9-3ACFE5ABD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118" y="2170807"/>
            <a:ext cx="4356400" cy="4292000"/>
          </a:xfrm>
        </p:spPr>
        <p:txBody>
          <a:bodyPr>
            <a:normAutofit/>
          </a:bodyPr>
          <a:lstStyle/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r>
              <a:rPr lang="de-CH"/>
              <a:t>Kundenservice Chats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endParaRPr lang="de-CH"/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r>
              <a:rPr lang="de-CH"/>
              <a:t>Soundeffekt-Erzeugung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endParaRPr lang="de-CH"/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r>
              <a:rPr lang="de-CH"/>
              <a:t>Codegenerierung</a:t>
            </a: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endParaRPr lang="de-CH"/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800"/>
              </a:spcBef>
              <a:buNone/>
            </a:pPr>
            <a:r>
              <a:rPr lang="de-CH"/>
              <a:t>Design für Bauteile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A18AB-703E-60CE-8C1C-41914F2872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342252" y="1979278"/>
            <a:ext cx="4356400" cy="4292000"/>
          </a:xfrm>
        </p:spPr>
        <p:txBody>
          <a:bodyPr/>
          <a:lstStyle/>
          <a:p>
            <a:pPr marL="152396" indent="0">
              <a:buNone/>
            </a:pPr>
            <a:r>
              <a:rPr lang="de-CH"/>
              <a:t>Vorhersagen: Wetter</a:t>
            </a:r>
          </a:p>
          <a:p>
            <a:pPr marL="152396" indent="0">
              <a:buNone/>
            </a:pPr>
            <a:endParaRPr lang="de-CH"/>
          </a:p>
          <a:p>
            <a:pPr marL="152396" indent="0">
              <a:buNone/>
            </a:pPr>
            <a:r>
              <a:rPr lang="de-CH"/>
              <a:t>Medizinische Bildanalyse</a:t>
            </a:r>
          </a:p>
          <a:p>
            <a:pPr marL="152396" indent="0">
              <a:buNone/>
            </a:pPr>
            <a:endParaRPr lang="de-CH"/>
          </a:p>
          <a:p>
            <a:pPr marL="152396" indent="0">
              <a:buNone/>
            </a:pPr>
            <a:r>
              <a:rPr lang="de-CH"/>
              <a:t>Filmempfehlungen</a:t>
            </a:r>
          </a:p>
          <a:p>
            <a:pPr marL="152396" indent="0">
              <a:buNone/>
            </a:pPr>
            <a:endParaRPr lang="de-CH"/>
          </a:p>
          <a:p>
            <a:pPr marL="152396" indent="0">
              <a:buNone/>
            </a:pPr>
            <a:r>
              <a:rPr lang="de-CH"/>
              <a:t>Routenoptimierung</a:t>
            </a:r>
          </a:p>
          <a:p>
            <a:pPr marL="152396" indent="0">
              <a:buNone/>
            </a:pPr>
            <a:endParaRPr lang="en-CH"/>
          </a:p>
        </p:txBody>
      </p:sp>
      <p:pic>
        <p:nvPicPr>
          <p:cNvPr id="1026" name="Picture 2" descr="25+ Thousand Chat Bot Icon Vector Royalty-Free Images, Stock Photos &amp;  Pictures | Shutterstock">
            <a:extLst>
              <a:ext uri="{FF2B5EF4-FFF2-40B4-BE49-F238E27FC236}">
                <a16:creationId xmlns:a16="http://schemas.microsoft.com/office/drawing/2014/main" id="{B13C7146-4F2D-8957-CFD4-0999E24160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4" t="12683" r="16110" b="15620"/>
          <a:stretch>
            <a:fillRect/>
          </a:stretch>
        </p:blipFill>
        <p:spPr bwMode="auto">
          <a:xfrm>
            <a:off x="373545" y="2164287"/>
            <a:ext cx="752355" cy="77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I Sound Effect Generator App - App Store">
            <a:extLst>
              <a:ext uri="{FF2B5EF4-FFF2-40B4-BE49-F238E27FC236}">
                <a16:creationId xmlns:a16="http://schemas.microsoft.com/office/drawing/2014/main" id="{A0868366-A061-5552-E748-4F46AFD6E9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0" t="13303" r="31536" b="13206"/>
          <a:stretch>
            <a:fillRect/>
          </a:stretch>
        </p:blipFill>
        <p:spPr bwMode="auto">
          <a:xfrm>
            <a:off x="373544" y="3153357"/>
            <a:ext cx="752355" cy="76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Artificial Intelligence Code Generate SVG, PNG Icon, Symbol. Download  Image.">
            <a:extLst>
              <a:ext uri="{FF2B5EF4-FFF2-40B4-BE49-F238E27FC236}">
                <a16:creationId xmlns:a16="http://schemas.microsoft.com/office/drawing/2014/main" id="{72518E2B-5512-6E85-73D7-7C4996EEA3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34"/>
          <a:stretch>
            <a:fillRect/>
          </a:stretch>
        </p:blipFill>
        <p:spPr bwMode="auto">
          <a:xfrm>
            <a:off x="337217" y="4125278"/>
            <a:ext cx="802916" cy="7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generative AI for architecture is transforming design">
            <a:extLst>
              <a:ext uri="{FF2B5EF4-FFF2-40B4-BE49-F238E27FC236}">
                <a16:creationId xmlns:a16="http://schemas.microsoft.com/office/drawing/2014/main" id="{0A490EE2-D409-362C-AF70-5227D2AE4D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3" t="24884" r="29726" b="10502"/>
          <a:stretch>
            <a:fillRect/>
          </a:stretch>
        </p:blipFill>
        <p:spPr bwMode="auto">
          <a:xfrm>
            <a:off x="337217" y="5034150"/>
            <a:ext cx="904198" cy="74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ather forecasting ai artificial intelligence - filled outline icon  14354566 Vector Art at Vecteezy">
            <a:extLst>
              <a:ext uri="{FF2B5EF4-FFF2-40B4-BE49-F238E27FC236}">
                <a16:creationId xmlns:a16="http://schemas.microsoft.com/office/drawing/2014/main" id="{09A9CD4F-3EB7-5A14-A68C-0F722D45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43484" y="1979278"/>
            <a:ext cx="778753" cy="77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w to Make AI and ML-Based Medical Image Analysis Better | Towards AI">
            <a:extLst>
              <a:ext uri="{FF2B5EF4-FFF2-40B4-BE49-F238E27FC236}">
                <a16:creationId xmlns:a16="http://schemas.microsoft.com/office/drawing/2014/main" id="{336DA65C-D811-F027-7E49-2AEBF33C8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6" r="36141" b="50000"/>
          <a:stretch>
            <a:fillRect/>
          </a:stretch>
        </p:blipFill>
        <p:spPr bwMode="auto">
          <a:xfrm>
            <a:off x="6375447" y="2943040"/>
            <a:ext cx="914826" cy="77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Netflix makes finding new shows and films easier with 'play something'  recommendation feature - Technology News | The Financial Express">
            <a:extLst>
              <a:ext uri="{FF2B5EF4-FFF2-40B4-BE49-F238E27FC236}">
                <a16:creationId xmlns:a16="http://schemas.microsoft.com/office/drawing/2014/main" id="{A6644E79-6858-5F9B-9DC0-3F93AA2D6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9" t="22121" r="23061" b="29464"/>
          <a:stretch>
            <a:fillRect/>
          </a:stretch>
        </p:blipFill>
        <p:spPr bwMode="auto">
          <a:xfrm>
            <a:off x="6256326" y="3983150"/>
            <a:ext cx="1085926" cy="66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he Ease of Route Optimization – ZenduWork">
            <a:extLst>
              <a:ext uri="{FF2B5EF4-FFF2-40B4-BE49-F238E27FC236}">
                <a16:creationId xmlns:a16="http://schemas.microsoft.com/office/drawing/2014/main" id="{81A8B92F-5315-9AFD-4122-9BFB6263CE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1" b="11313"/>
          <a:stretch>
            <a:fillRect/>
          </a:stretch>
        </p:blipFill>
        <p:spPr bwMode="auto">
          <a:xfrm>
            <a:off x="6460611" y="5034150"/>
            <a:ext cx="761626" cy="65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A3616C-05F4-8553-6306-E76952FDB0B7}"/>
              </a:ext>
            </a:extLst>
          </p:cNvPr>
          <p:cNvCxnSpPr/>
          <p:nvPr/>
        </p:nvCxnSpPr>
        <p:spPr>
          <a:xfrm>
            <a:off x="5748518" y="1979278"/>
            <a:ext cx="0" cy="4178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99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7B15-F22E-F119-3CBE-987B1836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900" y="698829"/>
            <a:ext cx="7670859" cy="1143200"/>
          </a:xfrm>
        </p:spPr>
        <p:txBody>
          <a:bodyPr>
            <a:normAutofit fontScale="90000"/>
          </a:bodyPr>
          <a:lstStyle/>
          <a:p>
            <a:r>
              <a:rPr lang="de-DE" sz="4400">
                <a:solidFill>
                  <a:srgbClr val="000000"/>
                </a:solidFill>
                <a:effectLst/>
                <a:latin typeface="Helvetica Neue Thin" panose="020B0403020202020204"/>
              </a:rPr>
              <a:t>Welche Programmiersprache wird für KI verwendet?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8940F-2378-7C92-0F76-0A63CC64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12933"/>
            <a:ext cx="4356400" cy="4292000"/>
          </a:xfrm>
        </p:spPr>
        <p:txBody>
          <a:bodyPr/>
          <a:lstStyle/>
          <a:p>
            <a:pPr algn="ctr"/>
            <a:endParaRPr lang="de-CH"/>
          </a:p>
          <a:p>
            <a:pPr algn="ctr"/>
            <a:r>
              <a:rPr lang="de-CH"/>
              <a:t>Python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1F1AA-461C-1A6F-0C75-81E3900AA6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44663" y="2549191"/>
            <a:ext cx="6293007" cy="4292000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de-CH"/>
              <a:t>Wieso?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CH" altLang="en-CH" sz="2200" b="1" err="1">
                <a:latin typeface="Arial" panose="020B0604020202020204" pitchFamily="34" charset="0"/>
              </a:rPr>
              <a:t>Einfach</a:t>
            </a:r>
            <a:r>
              <a:rPr lang="en-CH" altLang="en-CH" sz="2200" b="1">
                <a:latin typeface="Arial" panose="020B0604020202020204" pitchFamily="34" charset="0"/>
              </a:rPr>
              <a:t> und </a:t>
            </a:r>
            <a:r>
              <a:rPr lang="en-CH" altLang="en-CH" sz="2200" b="1" err="1">
                <a:latin typeface="Arial" panose="020B0604020202020204" pitchFamily="34" charset="0"/>
              </a:rPr>
              <a:t>lesbar</a:t>
            </a:r>
            <a:r>
              <a:rPr lang="en-CH" altLang="en-CH" sz="2200">
                <a:latin typeface="Arial" panose="020B0604020202020204" pitchFamily="34" charset="0"/>
              </a:rPr>
              <a:t>, ideal für </a:t>
            </a:r>
            <a:r>
              <a:rPr lang="en-CH" altLang="en-CH" sz="2200" err="1">
                <a:latin typeface="Arial" panose="020B0604020202020204" pitchFamily="34" charset="0"/>
              </a:rPr>
              <a:t>schnelles</a:t>
            </a:r>
            <a:r>
              <a:rPr lang="en-CH" altLang="en-CH" sz="2200">
                <a:latin typeface="Arial" panose="020B0604020202020204" pitchFamily="34" charset="0"/>
              </a:rPr>
              <a:t> Prototyping</a:t>
            </a:r>
            <a:endParaRPr lang="de-CH" altLang="en-CH" sz="2200"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CH" altLang="en-CH" sz="2200" b="1" err="1">
                <a:latin typeface="Arial" panose="020B0604020202020204" pitchFamily="34" charset="0"/>
              </a:rPr>
              <a:t>Großes</a:t>
            </a:r>
            <a:r>
              <a:rPr lang="en-CH" altLang="en-CH" sz="2200" b="1">
                <a:latin typeface="Arial" panose="020B0604020202020204" pitchFamily="34" charset="0"/>
              </a:rPr>
              <a:t> KI-</a:t>
            </a:r>
            <a:r>
              <a:rPr lang="en-CH" altLang="en-CH" sz="2200" b="1" err="1">
                <a:latin typeface="Arial" panose="020B0604020202020204" pitchFamily="34" charset="0"/>
              </a:rPr>
              <a:t>Ökosystem</a:t>
            </a:r>
            <a:r>
              <a:rPr lang="en-CH" altLang="en-CH" sz="2200">
                <a:latin typeface="Arial" panose="020B0604020202020204" pitchFamily="34" charset="0"/>
              </a:rPr>
              <a:t> </a:t>
            </a:r>
            <a:r>
              <a:rPr lang="en-CH" altLang="en-CH" sz="2200" err="1">
                <a:latin typeface="Arial" panose="020B0604020202020204" pitchFamily="34" charset="0"/>
              </a:rPr>
              <a:t>mit</a:t>
            </a:r>
            <a:r>
              <a:rPr lang="en-CH" altLang="en-CH" sz="2200">
                <a:latin typeface="Arial" panose="020B0604020202020204" pitchFamily="34" charset="0"/>
              </a:rPr>
              <a:t> </a:t>
            </a:r>
            <a:r>
              <a:rPr lang="en-CH" altLang="en-CH" sz="2200" err="1">
                <a:latin typeface="Arial" panose="020B0604020202020204" pitchFamily="34" charset="0"/>
              </a:rPr>
              <a:t>etablierten</a:t>
            </a:r>
            <a:r>
              <a:rPr lang="en-CH" altLang="en-CH" sz="2200">
                <a:latin typeface="Arial" panose="020B0604020202020204" pitchFamily="34" charset="0"/>
              </a:rPr>
              <a:t> </a:t>
            </a:r>
            <a:r>
              <a:rPr lang="en-CH" altLang="en-CH" sz="2200" err="1">
                <a:latin typeface="Arial" panose="020B0604020202020204" pitchFamily="34" charset="0"/>
              </a:rPr>
              <a:t>Bibliotheken</a:t>
            </a:r>
            <a:r>
              <a:rPr lang="en-CH" altLang="en-CH" sz="2200">
                <a:latin typeface="Arial" panose="020B0604020202020204" pitchFamily="34" charset="0"/>
              </a:rPr>
              <a:t> (z. B. </a:t>
            </a:r>
            <a:r>
              <a:rPr lang="en-CH" altLang="en-CH" sz="2200" err="1">
                <a:latin typeface="Arial" panose="020B0604020202020204" pitchFamily="34" charset="0"/>
              </a:rPr>
              <a:t>PyTorch</a:t>
            </a:r>
            <a:r>
              <a:rPr lang="en-CH" altLang="en-CH" sz="2200">
                <a:latin typeface="Arial" panose="020B0604020202020204" pitchFamily="34" charset="0"/>
              </a:rPr>
              <a:t>, TensorFlow)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CH" altLang="en-CH" sz="2200" b="1">
                <a:latin typeface="Arial" panose="020B0604020202020204" pitchFamily="34" charset="0"/>
              </a:rPr>
              <a:t>Hohe Performance </a:t>
            </a:r>
            <a:r>
              <a:rPr lang="en-CH" altLang="en-CH" sz="2200" err="1">
                <a:latin typeface="Arial" panose="020B0604020202020204" pitchFamily="34" charset="0"/>
              </a:rPr>
              <a:t>durch</a:t>
            </a:r>
            <a:r>
              <a:rPr lang="en-CH" altLang="en-CH" sz="2200">
                <a:latin typeface="Arial" panose="020B0604020202020204" pitchFamily="34" charset="0"/>
              </a:rPr>
              <a:t> C/C++ und GPU-Code </a:t>
            </a:r>
            <a:r>
              <a:rPr lang="en-CH" altLang="en-CH" sz="2200" err="1">
                <a:latin typeface="Arial" panose="020B0604020202020204" pitchFamily="34" charset="0"/>
              </a:rPr>
              <a:t>im</a:t>
            </a:r>
            <a:r>
              <a:rPr lang="en-CH" altLang="en-CH" sz="2200">
                <a:latin typeface="Arial" panose="020B0604020202020204" pitchFamily="34" charset="0"/>
              </a:rPr>
              <a:t> </a:t>
            </a:r>
            <a:r>
              <a:rPr lang="en-CH" altLang="en-CH" sz="2200" err="1">
                <a:latin typeface="Arial" panose="020B0604020202020204" pitchFamily="34" charset="0"/>
              </a:rPr>
              <a:t>Hintergrund</a:t>
            </a:r>
            <a:endParaRPr lang="en-CH" altLang="en-CH" sz="2200">
              <a:latin typeface="Arial" panose="020B0604020202020204" pitchFamily="34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de-CH" altLang="en-CH" sz="2200" b="1">
                <a:latin typeface="Arial" panose="020B0604020202020204" pitchFamily="34" charset="0"/>
              </a:rPr>
              <a:t>Einfach</a:t>
            </a:r>
            <a:r>
              <a:rPr lang="en-CH" altLang="en-CH" sz="2200" b="1">
                <a:latin typeface="Arial" panose="020B0604020202020204" pitchFamily="34" charset="0"/>
              </a:rPr>
              <a:t>er </a:t>
            </a:r>
            <a:r>
              <a:rPr lang="en-CH" altLang="en-CH" sz="2200" b="1" err="1">
                <a:latin typeface="Arial" panose="020B0604020202020204" pitchFamily="34" charset="0"/>
              </a:rPr>
              <a:t>Übergang</a:t>
            </a:r>
            <a:r>
              <a:rPr lang="en-CH" altLang="en-CH" sz="2200" b="1">
                <a:latin typeface="Arial" panose="020B0604020202020204" pitchFamily="34" charset="0"/>
              </a:rPr>
              <a:t> </a:t>
            </a:r>
            <a:r>
              <a:rPr lang="en-CH" altLang="en-CH" sz="2200">
                <a:latin typeface="Arial" panose="020B0604020202020204" pitchFamily="34" charset="0"/>
              </a:rPr>
              <a:t>von Forschung </a:t>
            </a:r>
            <a:r>
              <a:rPr lang="en-CH" altLang="en-CH" sz="2200" err="1">
                <a:latin typeface="Arial" panose="020B0604020202020204" pitchFamily="34" charset="0"/>
              </a:rPr>
              <a:t>zu</a:t>
            </a:r>
            <a:r>
              <a:rPr lang="en-CH" altLang="en-CH" sz="2200">
                <a:latin typeface="Arial" panose="020B0604020202020204" pitchFamily="34" charset="0"/>
              </a:rPr>
              <a:t> Produktion</a:t>
            </a:r>
          </a:p>
          <a:p>
            <a:pPr marL="152396" indent="0">
              <a:buNone/>
            </a:pPr>
            <a:endParaRPr lang="en-CH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5A21855-2C65-10CA-9E37-4B30F6C7E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575" y="352316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99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34D3-F0AD-E777-E047-EE6E29A6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919" y="2857400"/>
            <a:ext cx="7323619" cy="114320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000000"/>
                </a:solidFill>
                <a:effectLst/>
                <a:latin typeface="Helvetica Neue Thin" panose="020B0403020202020204"/>
              </a:rPr>
              <a:t>Und jetzt zum Programmieren!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78344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A521-E0FC-41D3-1242-AA54D1CA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8935-026E-FFCC-5760-200916F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90" y="2012449"/>
            <a:ext cx="7323619" cy="11432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00"/>
                </a:solidFill>
                <a:effectLst/>
                <a:latin typeface="Helvetica Neue Thin" panose="020B0403020202020204"/>
              </a:rPr>
              <a:t>Und </a:t>
            </a:r>
            <a:r>
              <a:rPr lang="en-US" sz="4400" dirty="0" err="1">
                <a:solidFill>
                  <a:srgbClr val="000000"/>
                </a:solidFill>
                <a:effectLst/>
                <a:latin typeface="Helvetica Neue Thin" panose="020B0403020202020204"/>
              </a:rPr>
              <a:t>jetzt</a:t>
            </a:r>
            <a:r>
              <a:rPr lang="en-US" sz="4400" dirty="0">
                <a:solidFill>
                  <a:srgbClr val="000000"/>
                </a:solidFill>
                <a:effectLst/>
                <a:latin typeface="Helvetica Neue Thin" panose="020B0403020202020204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Helvetica Neue Thin" panose="020B0403020202020204"/>
              </a:rPr>
              <a:t>zum</a:t>
            </a:r>
            <a:r>
              <a:rPr lang="en-US" sz="4400" dirty="0">
                <a:solidFill>
                  <a:srgbClr val="000000"/>
                </a:solidFill>
                <a:effectLst/>
                <a:latin typeface="Helvetica Neue Thin" panose="020B0403020202020204"/>
              </a:rPr>
              <a:t> </a:t>
            </a:r>
            <a:r>
              <a:rPr lang="en-US" sz="4400" dirty="0" err="1">
                <a:solidFill>
                  <a:srgbClr val="000000"/>
                </a:solidFill>
                <a:effectLst/>
                <a:latin typeface="Helvetica Neue Thin" panose="020B0403020202020204"/>
              </a:rPr>
              <a:t>Programmieren</a:t>
            </a:r>
            <a:r>
              <a:rPr lang="en-US" sz="4400" dirty="0">
                <a:solidFill>
                  <a:srgbClr val="000000"/>
                </a:solidFill>
                <a:effectLst/>
                <a:latin typeface="Helvetica Neue Thin" panose="020B0403020202020204"/>
              </a:rPr>
              <a:t>!</a:t>
            </a:r>
            <a:br>
              <a:rPr lang="en-US" sz="4400" dirty="0">
                <a:solidFill>
                  <a:srgbClr val="000000"/>
                </a:solidFill>
                <a:effectLst/>
                <a:latin typeface="Helvetica Neue Thin" panose="020B0403020202020204"/>
              </a:rPr>
            </a:br>
            <a:br>
              <a:rPr lang="en-US" sz="4400" dirty="0">
                <a:solidFill>
                  <a:srgbClr val="000000"/>
                </a:solidFill>
                <a:effectLst/>
                <a:latin typeface="Helvetica Neue Thin" panose="020B0403020202020204"/>
              </a:rPr>
            </a:br>
            <a:r>
              <a:rPr lang="en-US" dirty="0">
                <a:solidFill>
                  <a:srgbClr val="000000"/>
                </a:solidFill>
                <a:latin typeface="Helvetica Neue Thin" panose="020B0403020202020204"/>
              </a:rPr>
              <a:t>Teil 1: </a:t>
            </a:r>
            <a:r>
              <a:rPr lang="en-US" dirty="0" err="1">
                <a:solidFill>
                  <a:srgbClr val="000000"/>
                </a:solidFill>
                <a:latin typeface="Helvetica Neue Thin" panose="020B0403020202020204"/>
              </a:rPr>
              <a:t>tinyurl.com</a:t>
            </a:r>
            <a:r>
              <a:rPr lang="en-US" dirty="0">
                <a:solidFill>
                  <a:srgbClr val="000000"/>
                </a:solidFill>
                <a:latin typeface="Helvetica Neue Thin" panose="020B0403020202020204"/>
              </a:rPr>
              <a:t>/bdy6a2ar</a:t>
            </a:r>
            <a:br>
              <a:rPr lang="en-US" dirty="0">
                <a:solidFill>
                  <a:srgbClr val="000000"/>
                </a:solidFill>
                <a:latin typeface="Helvetica Neue Thin" panose="020B0403020202020204"/>
              </a:rPr>
            </a:br>
            <a:br>
              <a:rPr lang="en-US" dirty="0">
                <a:solidFill>
                  <a:srgbClr val="000000"/>
                </a:solidFill>
                <a:latin typeface="Helvetica Neue Thin" panose="020B0403020202020204"/>
              </a:rPr>
            </a:br>
            <a:r>
              <a:rPr lang="en-US" dirty="0">
                <a:solidFill>
                  <a:srgbClr val="000000"/>
                </a:solidFill>
                <a:latin typeface="Helvetica Neue Thin" panose="020B0403020202020204"/>
              </a:rPr>
              <a:t>Teil 2: </a:t>
            </a:r>
            <a:r>
              <a:rPr lang="en-US" dirty="0" err="1">
                <a:solidFill>
                  <a:srgbClr val="000000"/>
                </a:solidFill>
                <a:latin typeface="Helvetica Neue Thin" panose="020B0403020202020204"/>
              </a:rPr>
              <a:t>tinyurl.com</a:t>
            </a:r>
            <a:r>
              <a:rPr lang="en-US" dirty="0">
                <a:solidFill>
                  <a:srgbClr val="000000"/>
                </a:solidFill>
                <a:latin typeface="Helvetica Neue Thin" panose="020B0403020202020204"/>
              </a:rPr>
              <a:t>/mrb4pvpd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29746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8A0AF656BB1D489DB1D935AC98314A" ma:contentTypeVersion="15" ma:contentTypeDescription="Create a new document." ma:contentTypeScope="" ma:versionID="6334768c109abe6a69c5f8b77d923775">
  <xsd:schema xmlns:xsd="http://www.w3.org/2001/XMLSchema" xmlns:xs="http://www.w3.org/2001/XMLSchema" xmlns:p="http://schemas.microsoft.com/office/2006/metadata/properties" xmlns:ns2="df1368c5-e004-46de-8355-d376eaaabfa9" xmlns:ns3="e06bf007-8b18-43d2-85f2-d361275eaa1e" targetNamespace="http://schemas.microsoft.com/office/2006/metadata/properties" ma:root="true" ma:fieldsID="db4926433630280df22ff955201baec4" ns2:_="" ns3:_="">
    <xsd:import namespace="df1368c5-e004-46de-8355-d376eaaabfa9"/>
    <xsd:import namespace="e06bf007-8b18-43d2-85f2-d361275eaa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Discountedto50CHFforGCTFamili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368c5-e004-46de-8355-d376eaaabf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aaccb79-1a28-4cb0-bc5b-94bb6d2c2b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Discountedto50CHFforGCTFamilie" ma:index="22" nillable="true" ma:displayName="Notes" ma:format="Dropdown" ma:internalName="Discountedto50CHFforGCTFamili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bf007-8b18-43d2-85f2-d361275eaa1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3b8d1dd-3c9e-4be0-a14d-d983b5c90dcf}" ma:internalName="TaxCatchAll" ma:showField="CatchAllData" ma:web="e06bf007-8b18-43d2-85f2-d361275eaa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368c5-e004-46de-8355-d376eaaabfa9">
      <Terms xmlns="http://schemas.microsoft.com/office/infopath/2007/PartnerControls"/>
    </lcf76f155ced4ddcb4097134ff3c332f>
    <TaxCatchAll xmlns="e06bf007-8b18-43d2-85f2-d361275eaa1e" xsi:nil="true"/>
    <Discountedto50CHFforGCTFamilie xmlns="df1368c5-e004-46de-8355-d376eaaabfa9" xsi:nil="true"/>
  </documentManagement>
</p:properties>
</file>

<file path=customXml/itemProps1.xml><?xml version="1.0" encoding="utf-8"?>
<ds:datastoreItem xmlns:ds="http://schemas.openxmlformats.org/officeDocument/2006/customXml" ds:itemID="{53DEA0A8-6234-438E-8E97-32490ADEC5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368c5-e004-46de-8355-d376eaaabfa9"/>
    <ds:schemaRef ds:uri="e06bf007-8b18-43d2-85f2-d361275eaa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9CB9C2-8CA8-46B6-BE86-A5F2ACA0C4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13FC8C-6DDA-47C8-B660-BA4C6769BDAD}">
  <ds:schemaRefs>
    <ds:schemaRef ds:uri="http://schemas.microsoft.com/office/infopath/2007/PartnerControls"/>
    <ds:schemaRef ds:uri="e06bf007-8b18-43d2-85f2-d361275eaa1e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df1368c5-e004-46de-8355-d376eaaabfa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62</Paragraphs>
  <Slides>19</Slides>
  <Notes>10</Notes>
  <HiddenSlides>1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Informatik Woche Kantonsschule Münchenstein</vt:lpstr>
      <vt:lpstr>Céline Ziegler</vt:lpstr>
      <vt:lpstr>Andri Hunkeler</vt:lpstr>
      <vt:lpstr>Livia Srindran</vt:lpstr>
      <vt:lpstr>Was ist Künstliche Intelligenz? </vt:lpstr>
      <vt:lpstr>Workshop Künstliche Intelligenz - Agenda</vt:lpstr>
      <vt:lpstr>Die 4 Industriellen Revolutionen</vt:lpstr>
      <vt:lpstr>Künstliche Intelligenz - Definition</vt:lpstr>
      <vt:lpstr>Künstliche Intelligenz - Definition</vt:lpstr>
      <vt:lpstr>PowerPoint Presentation</vt:lpstr>
      <vt:lpstr>PowerPoint Presentation</vt:lpstr>
      <vt:lpstr>Welche Beispiele für KI kennt ihr oder benutzt ihr?</vt:lpstr>
      <vt:lpstr>Warum jetzt Künstliche Intelligenz?</vt:lpstr>
      <vt:lpstr>Generative KI</vt:lpstr>
      <vt:lpstr>PowerPoint Presentation</vt:lpstr>
      <vt:lpstr>Gen AI vs AI Beispiele</vt:lpstr>
      <vt:lpstr>Welche Programmiersprache wird für KI verwendet?</vt:lpstr>
      <vt:lpstr>Und jetzt zum Programmieren!</vt:lpstr>
      <vt:lpstr>Und jetzt zum Programmieren!  Teil 1: tinyurl.com/bdy6a2ar  Teil 2: tinyurl.com/mrb4pvpd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NFS – Project 3 – Simulation Risk analysis study proposed by the EPFL Safety Competence Center Group 1</dc:title>
  <dc:creator>David Cleres</dc:creator>
  <cp:lastModifiedBy>Céline Ziegler</cp:lastModifiedBy>
  <cp:revision>65</cp:revision>
  <cp:lastPrinted>2018-12-11T09:15:21Z</cp:lastPrinted>
  <dcterms:created xsi:type="dcterms:W3CDTF">2018-12-10T21:04:41Z</dcterms:created>
  <dcterms:modified xsi:type="dcterms:W3CDTF">2026-09-20T20:20:33Z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0x010100E88A0AF656BB1D489DB1D935AC98314A</vt:lpwstr>
  </property>
  <property fmtid="{D5CDD505-2E9C-101B-9397-08002B2CF9AE}" pid="3" name="MediaServiceImageTags">
    <vt:lpwstr/>
  </property>
</Properties>
</file>